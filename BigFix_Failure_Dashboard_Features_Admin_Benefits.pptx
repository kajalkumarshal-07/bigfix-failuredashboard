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B33"/>
              </a:gs>
              <a:gs pos="100000">
                <a:srgbClr val="082A52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-1280160"/>
            <a:ext cx="4023360" cy="4023360"/>
          </a:xfrm>
          <a:prstGeom prst="ellipse">
            <a:avLst/>
          </a:prstGeom>
          <a:solidFill>
            <a:srgbClr val="0E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60" y="4480560"/>
            <a:ext cx="3291840" cy="3291840"/>
          </a:xfrm>
          <a:prstGeom prst="ellipse">
            <a:avLst/>
          </a:prstGeom>
          <a:solidFill>
            <a:srgbClr val="0A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0" y="5212080"/>
            <a:ext cx="1371600" cy="13716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097280"/>
            <a:ext cx="3474720" cy="38404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BIGFIX OPERATIONS TOOL  •  v2.0.0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BigFix Failed Device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6B6D4"/>
                </a:solidFill>
                <a:latin typeface="Calibri"/>
              </a:rPr>
              <a:t>Features, Benefits &amp; Admin Value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3566160"/>
            <a:ext cx="23774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E8EEF6"/>
                </a:solidFill>
                <a:latin typeface="Calibri"/>
              </a:rPr>
              <a:t>Single pane of glass for offline clients, fixlet failures, compliance gaps and patch errors —
with root-cause analysis, remediation guidance, charts, reporting and scoped remote fixes.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5212080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10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0078D4"/>
                </a:solidFill>
                <a:latin typeface="Calibri"/>
              </a:rPr>
              <a:t>47 Root-Cause Rules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5212080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10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06B6D4"/>
                </a:solidFill>
                <a:latin typeface="Calibri"/>
              </a:rPr>
              <a:t>Async API + Cache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5212080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10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14B8A6"/>
                </a:solidFill>
                <a:latin typeface="Calibri"/>
              </a:rPr>
              <a:t>HTML / Email / Ticket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5212080"/>
            <a:ext cx="2286000" cy="402336"/>
          </a:xfrm>
          <a:prstGeom prst="roundRect">
            <a:avLst>
              <a:gd name="adj" fmla="val 50000"/>
            </a:avLst>
          </a:prstGeom>
          <a:solidFill>
            <a:srgbClr val="10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59E0B"/>
                </a:solidFill>
                <a:latin typeface="Calibri"/>
              </a:rPr>
              <a:t>Remote Fix (WinRM)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436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  <a:latin typeface="Calibri"/>
              </a:rPr>
              <a:t>For BigFix Admins, NOC &amp; Endpoint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30936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PowerShell 5.1 + WinForms  •  Zero install  •  Headless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91695" cy="320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60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  <a:latin typeface="Calibri"/>
              </a:rPr>
              <a:t>WHAT WE WILL 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20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B33"/>
                </a:solidFill>
                <a:latin typeface="Calibri"/>
              </a:rPr>
              <a:t>Presentation Agenda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1216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00200"/>
            <a:ext cx="5440680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1911095"/>
            <a:ext cx="749808" cy="74980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911095"/>
            <a:ext cx="3977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1B33"/>
                </a:solidFill>
                <a:latin typeface="Calibri"/>
              </a:rPr>
              <a:t>Why This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13432"/>
            <a:ext cx="3977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The admin pain of fragmented BigFix failure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0020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600200"/>
            <a:ext cx="544068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56832" y="1911095"/>
            <a:ext cx="749808" cy="749808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1911095"/>
            <a:ext cx="3977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1B33"/>
                </a:solidFill>
                <a:latin typeface="Calibri"/>
              </a:rPr>
              <a:t>Product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313432"/>
            <a:ext cx="3977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What it is, data sources &amp; how it works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27832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227832"/>
            <a:ext cx="5440680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96112" y="3538728"/>
            <a:ext cx="749808" cy="749808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538728"/>
            <a:ext cx="3977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1B33"/>
                </a:solidFill>
                <a:latin typeface="Calibri"/>
              </a:rPr>
              <a:t>Feature Deep Dive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941064"/>
            <a:ext cx="3977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Dashboard, charts, device view, analysis engine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227832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3227832"/>
            <a:ext cx="544068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56832" y="3538728"/>
            <a:ext cx="749808" cy="74980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538728"/>
            <a:ext cx="3977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1B33"/>
                </a:solidFill>
                <a:latin typeface="Calibri"/>
              </a:rPr>
              <a:t>Remediation &amp; Runbook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941064"/>
            <a:ext cx="3977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Scoped Remote Fix + 10-topic ops knowledge base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855464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855464"/>
            <a:ext cx="544068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6112" y="5166360"/>
            <a:ext cx="749808" cy="74980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28800" y="5166360"/>
            <a:ext cx="3977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1B33"/>
                </a:solidFill>
                <a:latin typeface="Calibri"/>
              </a:rPr>
              <a:t>Reporting &amp; 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5568696"/>
            <a:ext cx="3977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Exports, email, tickets, async API, cache, headless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855464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4855464"/>
            <a:ext cx="54406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56832" y="5166360"/>
            <a:ext cx="749808" cy="74980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5166360"/>
            <a:ext cx="3977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B1B33"/>
                </a:solidFill>
                <a:latin typeface="Calibri"/>
              </a:rPr>
              <a:t>Admin Benefits &amp; ROI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5568696"/>
            <a:ext cx="39776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Faster MTTR, less swivel-chair, audit-ready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91695" cy="320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60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20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B33"/>
                </a:solidFill>
                <a:latin typeface="Calibri"/>
              </a:rPr>
              <a:t>Why BigFix Admins Need This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1216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4748B"/>
                </a:solidFill>
                <a:latin typeface="Calibri"/>
              </a:rPr>
              <a:t>Failure data lives in consoles, logs, tickets and emails — triage is slow, tribal and hard to audit.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965960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965960"/>
            <a:ext cx="3611880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2276856"/>
            <a:ext cx="502920" cy="50292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33172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B33"/>
                </a:solidFill>
                <a:latin typeface="Calibri"/>
              </a:rPr>
              <a:t>Scattered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2608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Offline clients, failed fixlets, baselines and patch errors sit in different Console views.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07992" y="1965960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07992" y="1965960"/>
            <a:ext cx="3611880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82312" y="2276856"/>
            <a:ext cx="502920" cy="502920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233172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B33"/>
                </a:solidFill>
                <a:latin typeface="Calibri"/>
              </a:rPr>
              <a:t>No Root Cause Up Front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2" y="292608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Raw error codes force admins to Google, wiki-hop or escalate to senior engineers.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75904" y="1965960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75904" y="1965960"/>
            <a:ext cx="361188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50224" y="2276856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33172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B33"/>
                </a:solidFill>
                <a:latin typeface="Calibri"/>
              </a:rPr>
              <a:t>Slow MTTR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0224" y="2926080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Manual correlation of last-report time, relay logs and action status delays fixes by hours.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233672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233672"/>
            <a:ext cx="3611880" cy="640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" y="4544568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59943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B33"/>
                </a:solidFill>
                <a:latin typeface="Calibri"/>
              </a:rPr>
              <a:t>Weak Reporting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193792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Leadership asks 'how bad is it?' — screenshots and ad-hoc CSV exports take too long.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07992" y="4233672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07992" y="4233672"/>
            <a:ext cx="361188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82312" y="4544568"/>
            <a:ext cx="50292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22392" y="459943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B33"/>
                </a:solidFill>
                <a:latin typeface="Calibri"/>
              </a:rPr>
              <a:t>Alert Fatigue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82312" y="5193792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Critical counts change quietly; nobody watches the Console all day for new criticals.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75904" y="4233672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375904" y="4233672"/>
            <a:ext cx="3611880" cy="64008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650224" y="4544568"/>
            <a:ext cx="502920" cy="50292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0304" y="4599432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B33"/>
                </a:solidFill>
                <a:latin typeface="Calibri"/>
              </a:rPr>
              <a:t>Knowledge Gaps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50224" y="5193792"/>
            <a:ext cx="3063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Runbook steps live in OneNote / heads of a few experts — not next to the failing row.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6309360"/>
            <a:ext cx="10972800" cy="384048"/>
          </a:xfrm>
          <a:prstGeom prst="round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06B6D4"/>
                </a:solidFill>
                <a:latin typeface="Calibri"/>
              </a:rPr>
              <a:t>Result:  longer outages  •  tribal knowledge  •  missed criticals  •  audit friction  •  junior-admin risk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91695" cy="320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60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  <a:latin typeface="Calibri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20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B33"/>
                </a:solidFill>
                <a:latin typeface="Calibri"/>
              </a:rPr>
              <a:t>What Is the BigFix Failure Dashboard?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1216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539496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539496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B33"/>
                </a:solidFill>
                <a:latin typeface="Calibri"/>
              </a:rPr>
              <a:t>One desktop tool for failed endpoints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48463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PowerShell 5.1 + WinForms GUI (zero install)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Live BigFix REST API, CSV/XML import, demo, session cache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Every row: Root Cause + Remediation + Matched Rule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Tabs: Dashboard  |  Charts  |  Remote Fix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Headless CLI for scheduled HTML/CSV/JSON/email reports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Settings.json without passwords; cache for offline pulls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-SelfTest for CI validation (exit 0/1)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54480"/>
            <a:ext cx="52120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554480"/>
            <a:ext cx="5212080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7830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B33"/>
                </a:solidFill>
                <a:latin typeface="Calibri"/>
              </a:rPr>
              <a:t>Who it is for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33172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BigFix Administrators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377439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Daily failure triage &amp; fix validation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0" y="2990087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NOC / 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035807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Watch critical/offline spikes with auto-refresh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0" y="3648456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Patch Engineers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694176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See deploy failures before compliance reviews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0" y="4306824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Service Desk L1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352544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Read remediation steps before escalating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4965192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Managers / CAB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501091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HTML/CSV reports for status &amp; audit packs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91695" cy="320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60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  <a:latin typeface="Calibri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20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B33"/>
                </a:solidFill>
                <a:latin typeface="Calibri"/>
              </a:rPr>
              <a:t>Data Sources &amp; Analysis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1216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36118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361188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828800"/>
            <a:ext cx="548640" cy="54864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9202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B1B33"/>
                </a:solidFill>
                <a:latin typeface="Calibri"/>
              </a:rPr>
              <a:t>BigFix REST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Async background job
Two-phase: inventory → failures
Parallel relevance + retry
Session cache on success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554480"/>
            <a:ext cx="36118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1554480"/>
            <a:ext cx="3611880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80" y="1828800"/>
            <a:ext cx="548640" cy="54864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9202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B1B33"/>
                </a:solidFill>
                <a:latin typeface="Calibri"/>
              </a:rPr>
              <a:t>Import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0604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CSV or XML
Flexible column aliases
Works when API is down
Console export friendly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554480"/>
            <a:ext cx="36118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1554480"/>
            <a:ext cx="361188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595360" y="1828800"/>
            <a:ext cx="548640" cy="5486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9202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B1B33"/>
                </a:solidFill>
                <a:latin typeface="Calibri"/>
              </a:rPr>
              <a:t>Demo / Cache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606040"/>
            <a:ext cx="3108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Built-in demo data
last-pull.json offline
Training &amp; screenshots
No server required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709160"/>
            <a:ext cx="2697480" cy="1051560"/>
          </a:xfrm>
          <a:prstGeom prst="round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6B6D4"/>
                </a:solidFill>
                <a:latin typeface="Calibri"/>
              </a:rPr>
              <a:t>Ingest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E8EEF6"/>
                </a:solidFill>
                <a:latin typeface="Calibri"/>
              </a:rPr>
              <a:t>API / Import / Cache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291839" y="5029200"/>
            <a:ext cx="274320" cy="36576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520439" y="4709160"/>
            <a:ext cx="2697480" cy="105156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599" y="484632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6B6D4"/>
                </a:solidFill>
                <a:latin typeface="Calibri"/>
              </a:rPr>
              <a:t>Classify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599" y="5212080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E8EEF6"/>
                </a:solidFill>
                <a:latin typeface="Calibri"/>
              </a:rPr>
              <a:t>Offline · Fixlet · Compliance · Software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6172200" y="5029200"/>
            <a:ext cx="274320" cy="36576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709160"/>
            <a:ext cx="2697480" cy="1051560"/>
          </a:xfrm>
          <a:prstGeom prst="round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84632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6B6D4"/>
                </a:solidFill>
                <a:latin typeface="Calibri"/>
              </a:rPr>
              <a:t>Analyze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5212080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E8EEF6"/>
                </a:solidFill>
                <a:latin typeface="Calibri"/>
              </a:rPr>
              <a:t>47 regex root-cause rules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052560" y="5029200"/>
            <a:ext cx="274320" cy="365760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81159" y="4709160"/>
            <a:ext cx="2697480" cy="1051560"/>
          </a:xfrm>
          <a:prstGeom prst="roundRect">
            <a:avLst/>
          </a:prstGeom>
          <a:solidFill>
            <a:srgbClr val="12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18319" y="4846320"/>
            <a:ext cx="2423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6B6D4"/>
                </a:solidFill>
                <a:latin typeface="Calibri"/>
              </a:rPr>
              <a:t>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19" y="5212080"/>
            <a:ext cx="2423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E8EEF6"/>
                </a:solidFill>
                <a:latin typeface="Calibri"/>
              </a:rPr>
              <a:t>Remediate · Export · Ticket · Fix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  <a:latin typeface="Calibri"/>
              </a:rPr>
              <a:t>UI stays responsive during large pulls (child worker + progress files). Filters, tiles and charts update from one in-memory dataset.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91695" cy="320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60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  <a:latin typeface="Calibri"/>
              </a:rPr>
              <a:t>FEATURE 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20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B33"/>
                </a:solidFill>
                <a:latin typeface="Calibri"/>
              </a:rPr>
              <a:t>Core Features at a Glance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1216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361188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175564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773936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Calibri"/>
              </a:rPr>
              <a:t>Live API Connect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219456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Background job, two-phase inventory + failure scan, TLS skip option, 4h offline threshold.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07992" y="155448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07992" y="1554480"/>
            <a:ext cx="3611880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36592" y="175564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5272" y="1773936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Calibri"/>
              </a:rPr>
              <a:t>Failure Categories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64024" y="219456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Offline, FixletFailure, ComplianceFailure, SoftwareDeployment, Healthy — tiles + filters.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75904" y="155448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75904" y="1554480"/>
            <a:ext cx="3611880" cy="640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604504" y="175564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1773936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Calibri"/>
              </a:rPr>
              <a:t>47 Root-Cause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1936" y="219456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Regex knowledge base → Root Cause, Remediation, MatchedRule on every row.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33756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337560"/>
            <a:ext cx="361188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68680" y="353872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3557015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Calibri"/>
              </a:rPr>
              <a:t>Device View + Timeline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3977639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One row per host with worst severity, failure count, full failure timeline in detail pane.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07992" y="333756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07992" y="3337560"/>
            <a:ext cx="361188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36592" y="353872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05272" y="3557015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Calibri"/>
              </a:rPr>
              <a:t>Charts Tab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64024" y="3977639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Category pie, severity bars, top failing devices, top rules — management-ready visuals.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75904" y="333756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75904" y="3337560"/>
            <a:ext cx="3611880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604504" y="353872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73184" y="3557015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Calibri"/>
              </a:rPr>
              <a:t>Auto-Refresh + Alerts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31936" y="3977639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Minutes-based timer; tray balloon when critical/high count rises. Watch without babysitting.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12064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" y="5120640"/>
            <a:ext cx="36118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68680" y="5321807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EXP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737360" y="5340096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Calibri"/>
              </a:rPr>
              <a:t>Export Suite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" y="576072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Excel-friendly CSV, executive HTML report, machine JSON — filtered rows only.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07992" y="512064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07992" y="5120640"/>
            <a:ext cx="3611880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736592" y="5321807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05272" y="5340096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Calibri"/>
              </a:rPr>
              <a:t>Email &amp; Ticket Webhook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64024" y="576072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SMTP digest (BodyAsHtml) + JSON POST to ServiceNow/ITSM with optional headers.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75904" y="5120640"/>
            <a:ext cx="361188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375904" y="5120640"/>
            <a:ext cx="361188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604504" y="5321807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CAC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73184" y="5340096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Calibri"/>
              </a:rPr>
              <a:t>Session Cache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31936" y="576072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Last successful pull saved; offline refresh and -UseCache headless fallback.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91695" cy="320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60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  <a:latin typeface="Calibri"/>
              </a:rPr>
              <a:t>USER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20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B33"/>
                </a:solidFill>
                <a:latin typeface="Calibri"/>
              </a:rPr>
              <a:t>Dashboard: Built for Fast Triage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1216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694944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694944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618488"/>
            <a:ext cx="6949440" cy="50292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71907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Toolbar  ·  Server | User | Pass | Offline hrs | Auto-refresh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286000"/>
            <a:ext cx="1188720" cy="640080"/>
          </a:xfrm>
          <a:prstGeom prst="round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317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1B33"/>
                </a:solidFill>
                <a:latin typeface="Calibri"/>
              </a:rPr>
              <a:t>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651760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Failed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67128" y="2286000"/>
            <a:ext cx="1188720" cy="640080"/>
          </a:xfrm>
          <a:prstGeom prst="round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7128" y="23317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1B33"/>
                </a:solidFill>
                <a:latin typeface="Calibri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7128" y="2651760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Devices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65576" y="2286000"/>
            <a:ext cx="1188720" cy="640080"/>
          </a:xfrm>
          <a:prstGeom prst="round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5576" y="23317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1B33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5576" y="2651760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Offline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64024" y="2286000"/>
            <a:ext cx="1188720" cy="640080"/>
          </a:xfrm>
          <a:prstGeom prst="round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64024" y="23317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1B33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4024" y="2651760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Fixlet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62472" y="2286000"/>
            <a:ext cx="1188720" cy="640080"/>
          </a:xfrm>
          <a:prstGeom prst="roundRect">
            <a:avLst/>
          </a:prstGeom>
          <a:solidFill>
            <a:srgbClr val="E8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62472" y="23317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1B33"/>
                </a:solidFill>
                <a:latin typeface="Calibri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62472" y="2651760"/>
            <a:ext cx="1188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Crit/High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" y="3108960"/>
            <a:ext cx="6492240" cy="365760"/>
          </a:xfrm>
          <a:prstGeom prst="roundRect">
            <a:avLst/>
          </a:prstGeom>
          <a:solidFill>
            <a:srgbClr val="EC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182112"/>
            <a:ext cx="6217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  <a:latin typeface="Calibri"/>
              </a:rPr>
              <a:t>Category ▾   Severity ▾   Search…   [✓ Device view]   Clear Filters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3657600"/>
            <a:ext cx="6492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8680" y="3657600"/>
            <a:ext cx="6492240" cy="3200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3703320"/>
            <a:ext cx="62179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B1B33"/>
                </a:solidFill>
                <a:latin typeface="Calibri"/>
              </a:rPr>
              <a:t>DeviceName          Category            Severity     Error / Root Cause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4023360"/>
            <a:ext cx="6492240" cy="43891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06908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HR-LT-207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8880" y="406908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Offline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0" y="4050792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406908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BESClient not reporting → BF-RELAY-OFFLINE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50799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ENG-SRV-03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450799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FixletFailure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114800" y="4489704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45079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Hash mismatch → clear download cache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" y="4901184"/>
            <a:ext cx="6492240" cy="43891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" y="4946904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MFG-WS-441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68880" y="4946904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SoftwareDeployment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0" y="4928616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74920" y="494690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Exit 1603 / disk space → BF-DISK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385816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F172A"/>
                </a:solidFill>
                <a:latin typeface="Calibri"/>
              </a:rPr>
              <a:t>LAB-VM-009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68880" y="538581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ComplianceFailure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0" y="5367528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74920" y="538581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  <a:latin typeface="Calibri"/>
              </a:rPr>
              <a:t>Secure Boot / BitLocker baseline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18120" y="1600200"/>
            <a:ext cx="3749039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818120" y="1600200"/>
            <a:ext cx="3749039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20" y="17830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1B33"/>
                </a:solidFill>
                <a:latin typeface="Calibri"/>
              </a:rPr>
              <a:t>Summary tiles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2039112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Instant counts: total, devices, offline, fixlet, compliance, critical+high, healthy.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818120" y="2514600"/>
            <a:ext cx="3749039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818120" y="2514600"/>
            <a:ext cx="3749039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0" y="26974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1B33"/>
                </a:solidFill>
                <a:latin typeface="Calibri"/>
              </a:rPr>
              <a:t>Color-coded grid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2953512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Critical red / High orange / Offline dark — scan during an incident.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818120" y="3429000"/>
            <a:ext cx="3749039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818120" y="3429000"/>
            <a:ext cx="3749039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46720" y="36118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1B33"/>
                </a:solidFill>
                <a:latin typeface="Calibri"/>
              </a:rPr>
              <a:t>Detail pane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46720" y="3867912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Raw error, root cause, remediation, matched rule — no tab-hopping.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818120" y="4343400"/>
            <a:ext cx="3749039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818120" y="4343400"/>
            <a:ext cx="3749039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46720" y="45262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1B33"/>
                </a:solidFill>
                <a:latin typeface="Calibri"/>
              </a:rPr>
              <a:t>Filters + Device view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0" y="4782312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Narrow to one host or collapse to per-device health in one click.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818120" y="5257800"/>
            <a:ext cx="3749039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818120" y="5257800"/>
            <a:ext cx="3749039" cy="64008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046720" y="544068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1B33"/>
                </a:solidFill>
                <a:latin typeface="Calibri"/>
              </a:rPr>
              <a:t>Status bar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46720" y="5696712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API phase progress, export paths, refresh messages.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91695" cy="320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60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  <a:latin typeface="Calibri"/>
              </a:rPr>
              <a:t>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20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B33"/>
                </a:solidFill>
                <a:latin typeface="Calibri"/>
              </a:rPr>
              <a:t>Root-Cause Engine: Not Just 'Failed'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1216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4748B"/>
                </a:solidFill>
                <a:latin typeface="Calibri"/>
              </a:rPr>
              <a:t>Each record is matched against a curated knowledge base so juniors get senior-level guidance on the row.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96596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965960"/>
            <a:ext cx="2697480" cy="640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2697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8B5CF6"/>
                </a:solidFill>
                <a:latin typeface="Calibri"/>
              </a:rPr>
              <a:t>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Regex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39" y="196596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39" y="1965960"/>
            <a:ext cx="269748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39" y="2194560"/>
            <a:ext cx="2697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0078D4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39" y="274320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Failure categories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96596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965960"/>
            <a:ext cx="269748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194560"/>
            <a:ext cx="2697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  <a:latin typeface="Calibri"/>
              </a:rPr>
              <a:t>30+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74320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Remote Fix solutions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81159" y="1965960"/>
            <a:ext cx="2697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81159" y="1965960"/>
            <a:ext cx="269748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81159" y="2194560"/>
            <a:ext cx="2697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14B8A6"/>
                </a:solidFill>
                <a:latin typeface="Calibr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59" y="274320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MatchedRule →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429000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3429000"/>
            <a:ext cx="5486400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5661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BF-RELAY-OFFLINE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35661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1B33"/>
                </a:solidFill>
                <a:latin typeface="Calibri"/>
              </a:rPr>
              <a:t>Client not reporting / BESClient stopped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8862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→ Service → logs → TCP 52311 → relay DNS → guarded cache reset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3429000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3429000"/>
            <a:ext cx="548640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5661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BF-DISK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35661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1B33"/>
                </a:solidFill>
                <a:latin typeface="Calibri"/>
              </a:rPr>
              <a:t>0x80070070 / insufficient disk space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8862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→ Clear Temp + BES pending downloads; report free GB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343400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4343400"/>
            <a:ext cx="5486400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44805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97316"/>
                </a:solidFill>
                <a:latin typeface="Calibri"/>
              </a:rPr>
              <a:t>BF-DOWNLOAD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44805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1B33"/>
                </a:solidFill>
                <a:latin typeface="Calibri"/>
              </a:rPr>
              <a:t>Download Failed / prefetch / hash mismatch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8006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→ Restart BESClient; clear download cache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4343400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5080" y="4343400"/>
            <a:ext cx="548640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4805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B8A6"/>
                </a:solidFill>
                <a:latin typeface="Calibri"/>
              </a:rPr>
              <a:t>BFI-UPLOAD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32520" y="44805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1B33"/>
                </a:solidFill>
                <a:latin typeface="Calibri"/>
              </a:rPr>
              <a:t>MaxArchiveSize / scan not uploaded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48006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→ Clear scan locks; requeue Inventory upload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5257800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0" y="5257800"/>
            <a:ext cx="548640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53949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78D4"/>
                </a:solidFill>
                <a:latin typeface="Calibri"/>
              </a:rPr>
              <a:t>BF-PROXY / BF-CERT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0" y="53949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1B33"/>
                </a:solidFill>
                <a:latin typeface="Calibri"/>
              </a:rPr>
              <a:t>WinHTTP proxy / TLS handshake errors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57150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→ Inspect proxy + cert trust to relay/root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355080" y="5257800"/>
            <a:ext cx="54864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5080" y="5257800"/>
            <a:ext cx="54864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53949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PATCH-FAIL / DEFENDER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539496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B1B33"/>
                </a:solidFill>
                <a:latin typeface="Calibri"/>
              </a:rPr>
              <a:t>WU/DISM/sig update failures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0" y="57150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→ Reset WU stack; signature update path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91695" cy="320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60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  <a:latin typeface="Calibri"/>
              </a:rPr>
              <a:t>VISUAL 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20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B33"/>
                </a:solidFill>
                <a:latin typeface="Calibri"/>
              </a:rPr>
              <a:t>Device View, Charts &amp; Alerts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1216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548640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B33"/>
                </a:solidFill>
                <a:latin typeface="Calibri"/>
              </a:rPr>
              <a:t>Device View + 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49377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✓  One grid row per host (worst severity + failure count)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✓  Detail pane shows full failure timeline for that device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✓  Perfect for 'is this host broken or multi-issue?'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✓  Remote Fix scope expands selected device's failures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✓  Great for exec demos: clean host-centric 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55448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554480"/>
            <a:ext cx="512064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7830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B33"/>
                </a:solidFill>
                <a:latin typeface="Calibri"/>
              </a:rPr>
              <a:t>Charts Tab (4 visuals)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233172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Category pie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377439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Offline vs Fixlet vs Compliance vs Software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297180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Severity bars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01752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Critical / High / Medium / Low counts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3611879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Top devices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657599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Which hosts fail the most right now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4251959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Top rules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297679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4748B"/>
                </a:solidFill>
                <a:latin typeface="Calibri"/>
              </a:rPr>
              <a:t>Which root causes dominate the estate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02920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Auto-refresh + tray balloon when Critical/High rises — ops can leave the dashboard running on a second monitor.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91695" cy="320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60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  <a:latin typeface="Calibri"/>
              </a:rPr>
              <a:t>REMEDIATION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20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B33"/>
                </a:solidFill>
                <a:latin typeface="Calibri"/>
              </a:rPr>
              <a:t>Remote Fix (WinRM) — Scoped, Safe, Auditable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1216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269748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45920" y="1783080"/>
            <a:ext cx="640080" cy="64008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56032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B1B33"/>
                </a:solidFill>
                <a:latin typeface="Calibri"/>
              </a:rPr>
              <a:t>Choose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92608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Selected row · Filtered rows · All failed
Healthy always skipped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39" y="15544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39" y="1554480"/>
            <a:ext cx="2697480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6279" y="1783080"/>
            <a:ext cx="640080" cy="64008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56032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B1B33"/>
                </a:solidFill>
                <a:latin typeface="Calibri"/>
              </a:rPr>
              <a:t>Preview 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92608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[WINRM] / [MANUAL] / [SKIP]
Only rules that match each error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5544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554480"/>
            <a:ext cx="269748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06640" y="178308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56032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B1B33"/>
                </a:solidFill>
                <a:latin typeface="Calibri"/>
              </a:rPr>
              <a:t>Dry-run first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92608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WhatIf mode — no execution
Ideal for change control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59" y="1554480"/>
            <a:ext cx="269748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81159" y="1554480"/>
            <a:ext cx="26974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86999" y="178308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39" y="256032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B1B33"/>
                </a:solidFill>
                <a:latin typeface="Calibri"/>
              </a:rPr>
              <a:t>Confirm &amp; Fix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39" y="2926080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Dialog shows full plan
Per-host Invoke-Command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160520"/>
            <a:ext cx="54864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160520"/>
            <a:ext cx="5486400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38912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B33"/>
                </a:solidFill>
                <a:latin typeface="Calibri"/>
              </a:rPr>
              <a:t>Safety controls admins care about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800600"/>
            <a:ext cx="49377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Dry-run (WhatIf) before any live remoting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Confirm dialog before non-dry-run execute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Manual rules listed but never auto-executed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• Lab option: map demo hosts → localhost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160520"/>
            <a:ext cx="51206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160520"/>
            <a:ext cx="51206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43891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B33"/>
                </a:solidFill>
                <a:latin typeface="Calibri"/>
              </a:rPr>
              <a:t>Example outcomes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800600"/>
            <a:ext cx="4572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OK | Failed | WinRM-Failed | Manual | WhatIf | Skipped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Offline recovery follows guarded BF-RELAY-OFFLINE sequence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F172A"/>
                </a:solidFill>
                <a:latin typeface="Calibri"/>
              </a:rPr>
              <a:t>Grouped per device: one WinRM session runs that host's scripts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91695" cy="320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60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  <a:latin typeface="Calibri"/>
              </a:rPr>
              <a:t>KNOWLEDGE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20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B33"/>
                </a:solidFill>
                <a:latin typeface="Calibri"/>
              </a:rPr>
              <a:t>Built-in Ops Runbook — 10 Day-to-Day Topics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1216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60020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600200"/>
            <a:ext cx="548640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73736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Calibri"/>
              </a:rPr>
              <a:t>1. Clients Not Reporting / Offline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60020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600200"/>
            <a:ext cx="5486400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73736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Calibri"/>
              </a:rPr>
              <a:t>2. Relay Connectivity / Lags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24028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2240280"/>
            <a:ext cx="548640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377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Calibri"/>
              </a:rPr>
              <a:t>3. Console Performance / Freezes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24028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2240280"/>
            <a:ext cx="548640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3774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Calibri"/>
              </a:rPr>
              <a:t>4. Inventory Scans Not Uploading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88036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2880360"/>
            <a:ext cx="5486400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0175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Calibri"/>
              </a:rPr>
              <a:t>5. Database / WebUI Connection Failures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88036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2880360"/>
            <a:ext cx="54864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30175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Calibri"/>
              </a:rPr>
              <a:t>6. Server Maintenance Checklist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520439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520439"/>
            <a:ext cx="5486400" cy="640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657599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Calibri"/>
              </a:rPr>
              <a:t>7. Action Status Meanings &amp; Stuck Actions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520439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55080" y="3520439"/>
            <a:ext cx="5486400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657599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Calibri"/>
              </a:rPr>
              <a:t>8. Slow / Unresponsive Clients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16052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160520"/>
            <a:ext cx="5486400" cy="64008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29768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Calibri"/>
              </a:rPr>
              <a:t>9. Client Install / Upgrade Failures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80" y="4160520"/>
            <a:ext cx="548640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80" y="4160520"/>
            <a:ext cx="548640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29400" y="429768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1B33"/>
                </a:solidFill>
                <a:latin typeface="Calibri"/>
              </a:rPr>
              <a:t>10. Web Reports / WebUI Performance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B1B33"/>
                </a:solidFill>
                <a:latin typeface="Calibri"/>
              </a:rPr>
              <a:t>In-app features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440680"/>
            <a:ext cx="26974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5440680"/>
            <a:ext cx="2697480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" y="55778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1B33"/>
                </a:solidFill>
                <a:latin typeface="Calibri"/>
              </a:rPr>
              <a:t>Live search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59" y="589788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Filter by keyword across titles, tags, steps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520439" y="5440680"/>
            <a:ext cx="26974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520439" y="5440680"/>
            <a:ext cx="2697480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03320" y="55778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1B33"/>
                </a:solidFill>
                <a:latin typeface="Calibri"/>
              </a:rPr>
              <a:t>Copy topic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03320" y="589788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Paste steps into a ticket in one click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5440680"/>
            <a:ext cx="26974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0800" y="5440680"/>
            <a:ext cx="2697480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55778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1B33"/>
                </a:solidFill>
                <a:latin typeface="Calibri"/>
              </a:rPr>
              <a:t>Export all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589788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TXT / Markdown knowledge dump for wiki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281159" y="5440680"/>
            <a:ext cx="26974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281159" y="5440680"/>
            <a:ext cx="2697480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64039" y="557784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1B33"/>
                </a:solidFill>
                <a:latin typeface="Calibri"/>
              </a:rPr>
              <a:t>Linked from rows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64039" y="589788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4748B"/>
                </a:solidFill>
                <a:latin typeface="Calibri"/>
              </a:rPr>
              <a:t>Offline remediation points into the runbook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91695" cy="320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60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  <a:latin typeface="Calibri"/>
              </a:rPr>
              <a:t>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20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B33"/>
                </a:solidFill>
                <a:latin typeface="Calibri"/>
              </a:rPr>
              <a:t>Export, Email, Ticket &amp; Scheduled Reports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1216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36118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82880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7744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Excel-friendly, UTF-8 BOM, severity-sorted, full root-cause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Use: Spreadsheets / pivot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1554480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80560" y="1554480"/>
            <a:ext cx="361188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54880" y="182880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37744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Executive report: tiles + table + print CSS — share with leadership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1089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Use: PDF via browser print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1554480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1554480"/>
            <a:ext cx="3611880" cy="640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95360" y="182880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JSON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37744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Machine-readable for SIEM / data pipelines / custom apps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10896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Use: Integrations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794760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794760"/>
            <a:ext cx="3611880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406908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61772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SMTP digest (BodyAsHtml) when Critical+High spike or on demand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Use: Distribution lists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3794760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80560" y="3794760"/>
            <a:ext cx="3611880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54880" y="406908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Ticket webhook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61772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JSON POST with optional auth headers → ServiceNow / ITSM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53492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Use: Auto-ticketing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21040" y="3794760"/>
            <a:ext cx="36118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321040" y="3794760"/>
            <a:ext cx="361188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595360" y="406908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Tray alerts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461772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0F172A"/>
                </a:solidFill>
                <a:latin typeface="Calibri"/>
              </a:rPr>
              <a:t>Windows balloon when critical/high count rises on auto-refresh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534924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64748B"/>
                </a:solidFill>
                <a:latin typeface="Calibri"/>
              </a:rPr>
              <a:t>Use: Watch-floor ops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91695" cy="320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60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  <a:latin typeface="Calibri"/>
              </a:rPr>
              <a:t>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20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B33"/>
                </a:solidFill>
                <a:latin typeface="Calibri"/>
              </a:rPr>
              <a:t>Performance, Offline Resilience &amp; Headless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1216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548640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719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B1B33"/>
                </a:solidFill>
                <a:latin typeface="Calibri"/>
              </a:rPr>
              <a:t>Async Connect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0574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Child worker process + progress/result files. UI never freezes during large pulls.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69748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697480"/>
            <a:ext cx="5486400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862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B1B33"/>
                </a:solidFill>
                <a:latin typeface="Calibri"/>
              </a:rPr>
              <a:t>Parallel relevance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2004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Runspace pool runs failed-fixlet + compliance queries concurrently with retry/backoff.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84048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840480"/>
            <a:ext cx="548640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05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B1B33"/>
                </a:solidFill>
                <a:latin typeface="Calibri"/>
              </a:rPr>
              <a:t>Session 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434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Successful pulls write cache\last-pull.json for offline / degraded-mode refresh.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983480"/>
            <a:ext cx="54864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983480"/>
            <a:ext cx="54864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4807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B1B33"/>
                </a:solidFill>
                <a:latin typeface="Calibri"/>
              </a:rPr>
              <a:t>Grid 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864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BeginLoadData/EndLoadData, fixed row height, cached column indexes for CellFormatting.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55448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1554480"/>
            <a:ext cx="5120640" cy="640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719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B1B33"/>
                </a:solidFill>
                <a:latin typeface="Calibri"/>
              </a:rPr>
              <a:t>Headless CLI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0574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-ExportHtml / -ExportCsv / -ExportJson / -Email / -ImportPath / -UseCache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269748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2697480"/>
            <a:ext cx="512064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2862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B1B33"/>
                </a:solidFill>
                <a:latin typeface="Calibri"/>
              </a:rPr>
              <a:t>Scheduled Task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2004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Daily 07:00 HTML pack for leadership — no GUI, exit code 0/1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84048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3840480"/>
            <a:ext cx="5120640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4005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B1B33"/>
                </a:solidFill>
                <a:latin typeface="Calibri"/>
              </a:rPr>
              <a:t>SelfTest for CI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3434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9 root-cause + 25 runbook + 47 fix + 7 v2 checks — regression safe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0" y="4983480"/>
            <a:ext cx="51206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4983480"/>
            <a:ext cx="512064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5148072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0B1B33"/>
                </a:solidFill>
                <a:latin typeface="Calibri"/>
              </a:rPr>
              <a:t>Zero install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54864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One folder, pure PowerShell — zip and share with the team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91695" cy="320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60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  <a:latin typeface="Calibri"/>
              </a:rPr>
              <a:t>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20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B33"/>
                </a:solidFill>
                <a:latin typeface="Calibri"/>
              </a:rPr>
              <a:t>Security &amp; Settings Design Admins Trust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1216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54864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920240"/>
            <a:ext cx="502920" cy="50292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82880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B33"/>
                </a:solidFill>
                <a:latin typeface="Calibri"/>
              </a:rPr>
              <a:t>Passwords never persisted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194560"/>
            <a:ext cx="4297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BigFix, WinRM and SMTP secrets stay in memory / env vars only. settings.json is non-secret prefs.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55448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554480"/>
            <a:ext cx="548640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29400" y="1920240"/>
            <a:ext cx="502920" cy="50292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82880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B33"/>
                </a:solidFill>
                <a:latin typeface="Calibri"/>
              </a:rPr>
              <a:t>TLS skip is opt-in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194560"/>
            <a:ext cx="4297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Skip cert check defaults OFF. Enable only for lab self-signed certs (MITM awareness documented).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10896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3108960"/>
            <a:ext cx="5486400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3474720"/>
            <a:ext cx="502920" cy="502920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383279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B33"/>
                </a:solidFill>
                <a:latin typeface="Calibri"/>
              </a:rPr>
              <a:t>No redirect auth leak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749039"/>
            <a:ext cx="4297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REST calls do not follow HTTP redirects — SessionToken/Basic not forwarded to another host.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310896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3108960"/>
            <a:ext cx="548640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29400" y="3474720"/>
            <a:ext cx="502920" cy="50292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383279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B33"/>
                </a:solidFill>
                <a:latin typeface="Calibri"/>
              </a:rPr>
              <a:t>Guarded destructive ops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749039"/>
            <a:ext cx="4297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Offline cache wipe only under BF-RELAY-OFFLINE conditions; BF-CACHE-CORRUPT is explicit.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66344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663440"/>
            <a:ext cx="5486400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4400" y="5029200"/>
            <a:ext cx="502920" cy="50292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4937759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B33"/>
                </a:solidFill>
                <a:latin typeface="Calibri"/>
              </a:rPr>
              <a:t>Confirm before remoting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00200" y="5303520"/>
            <a:ext cx="4297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Remote Fix requires explicit confirm (or dry-run); manual rules never auto-run.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663440"/>
            <a:ext cx="5486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4663440"/>
            <a:ext cx="5486400" cy="640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629400" y="5029200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4937759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B33"/>
                </a:solidFill>
                <a:latin typeface="Calibri"/>
              </a:rPr>
              <a:t>Protect runtime files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303520"/>
            <a:ext cx="4297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cache\last-pull.json may hold inventory — lock down folder ACLs; exports are internal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gradFill rotWithShape="1">
            <a:gsLst>
              <a:gs pos="0">
                <a:srgbClr val="0B1B33"/>
              </a:gs>
              <a:gs pos="100000">
                <a:srgbClr val="122A4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2560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5120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Benefits for BigFix Administrators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657600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1673352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Faster MTTR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618488"/>
            <a:ext cx="16459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8EEF6"/>
                </a:solidFill>
                <a:latin typeface="Calibri"/>
              </a:rPr>
              <a:t>Root cause + remediation on the row — less hunting across Console, logs and wiki.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365760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07992" y="1673352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Single pane of glass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618488"/>
            <a:ext cx="16459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8EEF6"/>
                </a:solidFill>
                <a:latin typeface="Calibri"/>
              </a:rPr>
              <a:t>Offline, fixlet, compliance, software in one grid with filters and device view.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417320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83880" y="1417320"/>
            <a:ext cx="365760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48472" y="1673352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Junior-ready operations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1618488"/>
            <a:ext cx="16459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8EEF6"/>
                </a:solidFill>
                <a:latin typeface="Calibri"/>
              </a:rPr>
              <a:t>L1 can follow remediation steps; escalate only when rule is Manual.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496312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496312"/>
            <a:ext cx="365760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2752344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Proactive watching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31720" y="2697480"/>
            <a:ext cx="16459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8EEF6"/>
                </a:solidFill>
                <a:latin typeface="Calibri"/>
              </a:rPr>
              <a:t>Auto-refresh + critical balloons instead of discovering failures in a CAB review.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2496312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2496312"/>
            <a:ext cx="36576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07992" y="2752344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Leadership-ready reports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697480"/>
            <a:ext cx="16459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8EEF6"/>
                </a:solidFill>
                <a:latin typeface="Calibri"/>
              </a:rPr>
              <a:t>HTML/CSV/JSON in seconds — status packs without screenshot archaeology.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80" y="2496312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80" y="2496312"/>
            <a:ext cx="3657600" cy="6400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48472" y="2752344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Workflow integration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697480"/>
            <a:ext cx="16459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8EEF6"/>
                </a:solidFill>
                <a:latin typeface="Calibri"/>
              </a:rPr>
              <a:t>Email digest + ticket webhook fit existing mail and ITSM processes.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575304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3575304"/>
            <a:ext cx="3657600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7512" y="3831336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Works when API is down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3776472"/>
            <a:ext cx="16459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8EEF6"/>
                </a:solidFill>
                <a:latin typeface="Calibri"/>
              </a:rPr>
              <a:t>Import + session cache keep triage running during maintenance windows.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43400" y="3575304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43400" y="3575304"/>
            <a:ext cx="3657600" cy="640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07992" y="3831336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Scales with the estate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776472"/>
            <a:ext cx="16459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8EEF6"/>
                </a:solidFill>
                <a:latin typeface="Calibri"/>
              </a:rPr>
              <a:t>Async API + parallel relevance keep large pulls usable on admin laptops.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80" y="3575304"/>
            <a:ext cx="3657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83880" y="3575304"/>
            <a:ext cx="3657600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348472" y="3831336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Safe remediation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3776472"/>
            <a:ext cx="16459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E8EEF6"/>
                </a:solidFill>
                <a:latin typeface="Calibri"/>
              </a:rPr>
              <a:t>Dry-run, scoped plans, confirm dialogs — remote fix without blanket scripts.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4654296"/>
            <a:ext cx="113385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4654296"/>
            <a:ext cx="1133856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85800" y="4928616"/>
            <a:ext cx="1554480" cy="347472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Extensible knowledge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4910328"/>
            <a:ext cx="9144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EEF6"/>
                </a:solidFill>
                <a:latin typeface="Calibri"/>
              </a:rPr>
              <a:t>Add rules, fix solutions and runbook topics in one script; SelfTest guards regressions.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91695" cy="320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60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  <a:latin typeface="Calibri"/>
              </a:rPr>
              <a:t>STAKEHOLDERS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20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B33"/>
                </a:solidFill>
                <a:latin typeface="Calibri"/>
              </a:rPr>
              <a:t>Admin Benefits by Role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1216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554480"/>
            <a:ext cx="219456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554480"/>
            <a:ext cx="219456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4360" y="18288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BigFix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468880"/>
            <a:ext cx="18288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One screen for all failure types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47 rules = built-in senior guidance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Async pulls don't lock the laptop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Extend rules without rewriting the tool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1554480"/>
            <a:ext cx="219456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1554480"/>
            <a:ext cx="2194560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26080" y="18288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NOC / 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468880"/>
            <a:ext cx="18288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Auto-refresh + critical tray alerts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Device view for host-centric triage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Charts for shift handover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Filter Offline in one click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1554480"/>
            <a:ext cx="219456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74920" y="1554480"/>
            <a:ext cx="219456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57800" y="18288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Patch Engineer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2468880"/>
            <a:ext cx="18288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See deploy failures (1603, disk, hash)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MatchedRule → exact remediation path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Export filtered patch failures for CAB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Inventory upload issues surfaced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1554480"/>
            <a:ext cx="219456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06640" y="1554480"/>
            <a:ext cx="219456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89519" y="18288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Service Desk L1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19" y="2468880"/>
            <a:ext cx="18288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Read Root Cause before escalating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Runbook steps next to the failure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Copy topic into the ticket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Fewer 'BigFix is broken' tickets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59" y="1554480"/>
            <a:ext cx="2194560" cy="4663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38359" y="1554480"/>
            <a:ext cx="219456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21239" y="182880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Manager /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39" y="2468880"/>
            <a:ext cx="18288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HTML executive report on demand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CSV/JSON evidence packs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Scheduled headless daily digest</a:t>
            </a: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00" b="0" i="0">
                <a:solidFill>
                  <a:srgbClr val="0F172A"/>
                </a:solidFill>
                <a:latin typeface="Calibri"/>
              </a:rPr>
              <a:t>• SelfTest = documented quality gate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91695" cy="320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60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  <a:latin typeface="Calibri"/>
              </a:rPr>
              <a:t>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20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B33"/>
                </a:solidFill>
                <a:latin typeface="Calibri"/>
              </a:rPr>
              <a:t>Before vs After the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1216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53949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5394960" cy="6400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17830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BEFORE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77440"/>
            <a:ext cx="48463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✗  Hunt failures across Console folders &amp; analyses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✗  Google error codes / ping the senior admin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✗  Manual CSV exports, messy Excel cleanup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✗  Discover criticals days later in a review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✗  No standard remediation next to the error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✗   tribal knowledge walks out with leavers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✗  Ad-hoc screenshots for leadership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54480"/>
            <a:ext cx="52120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554480"/>
            <a:ext cx="52120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178308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46634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✓  Single grid: all categories, colors, filters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✓  Root Cause + Remediation on every row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✓  HTML/CSV/JSON/Email in one click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✓  Auto-refresh + critical balloon alerts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✓  Runbook + Remote Fix beside the failure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✓  Extensible rules stored in the script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✓  Scheduled headless packs for stakeholders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91695" cy="320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60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  <a:latin typeface="Calibri"/>
              </a:rPr>
              <a:t>GET 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20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B33"/>
                </a:solidFill>
                <a:latin typeface="Calibri"/>
              </a:rPr>
              <a:t>Quick Start for Admins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1216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2697480" cy="64008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00200" y="1783080"/>
            <a:ext cx="685800" cy="685800"/>
          </a:xfrm>
          <a:prstGeom prst="ellipse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260604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1B33"/>
                </a:solidFill>
                <a:latin typeface="Calibri"/>
              </a:rPr>
              <a:t>Launch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9718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Double-click Launch-BigFixDashboard.cmd (or .ps1 -STA)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39" y="155448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39" y="1554480"/>
            <a:ext cx="2697480" cy="640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80559" y="1783080"/>
            <a:ext cx="685800" cy="68580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60604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1B33"/>
                </a:solidFill>
                <a:latin typeface="Calibri"/>
              </a:rPr>
              <a:t>Explore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9718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Demo data auto-loads — click rows, try filters &amp; Device 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155448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1554480"/>
            <a:ext cx="269748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60920" y="1783080"/>
            <a:ext cx="685800" cy="68580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60604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1B33"/>
                </a:solidFill>
                <a:latin typeface="Calibri"/>
              </a:rPr>
              <a:t>Connect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9718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Server / User / Password → Connect API (background job)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59" y="155448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81159" y="1554480"/>
            <a:ext cx="269748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41280" y="1783080"/>
            <a:ext cx="685800" cy="6858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39" y="2606040"/>
            <a:ext cx="2331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1B33"/>
                </a:solidFill>
                <a:latin typeface="Calibri"/>
              </a:rPr>
              <a:t>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39" y="29718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Charts · Export · Email · Ticket · Runbook · Remote Fix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931920"/>
            <a:ext cx="109728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931920"/>
            <a:ext cx="10972800" cy="64008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16052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B1B33"/>
                </a:solidFill>
                <a:latin typeface="Calibri"/>
              </a:rPr>
              <a:t>Useful commands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6177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78D4"/>
                </a:solidFill>
                <a:latin typeface="Calibri"/>
              </a:rPr>
              <a:t>Self-test (CI)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617720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powershell -File .\BigFix-FailureDashboard.ps1 -SelfTest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96519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78D4"/>
                </a:solidFill>
                <a:latin typeface="Calibri"/>
              </a:rPr>
              <a:t>Headless HTML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4965192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powershell ... -ExportHtml C:\Reports\bf.html -UseCache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31266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78D4"/>
                </a:solidFill>
                <a:latin typeface="Calibri"/>
              </a:rPr>
              <a:t>Import + 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5312664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powershell ... -ImportPath .\sample-data\sample-failures.csv -ExportCsv out.csv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566013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078D4"/>
                </a:solidFill>
                <a:latin typeface="Calibri"/>
              </a:rPr>
              <a:t>Daily report task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660136"/>
            <a:ext cx="8138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onsolas"/>
              </a:rPr>
              <a:t>Register-ScheduledTask ... -Argument '... -ExportHtml C:\Reports\bf.html -UseCache'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16152"/>
            <a:ext cx="12191695" cy="32004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82296" cy="71323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5603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78D4"/>
                </a:solidFill>
                <a:latin typeface="Calibri"/>
              </a:rPr>
              <a:t>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120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0">
                <a:solidFill>
                  <a:srgbClr val="0B1B33"/>
                </a:solidFill>
                <a:latin typeface="Calibri"/>
              </a:rPr>
              <a:t>Quality Gates &amp; Extensibility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64592" cy="1216152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6873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554480"/>
            <a:ext cx="548640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548640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783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B33"/>
                </a:solidFill>
                <a:latin typeface="Calibri"/>
              </a:rPr>
              <a:t>SelfTest — automated confidence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3317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9/9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377439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Root-cause spot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0175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25/25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063239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Runbook structure &amp; content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7033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47/47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749039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Fix-solution coverage &amp; WhatIf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389120"/>
            <a:ext cx="109728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7/7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43484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  <a:latin typeface="Calibri"/>
              </a:rPr>
              <a:t>v2 exports, cache, settings, counts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Exit code 0/1 — drop into CI or a pre-release checklist. Guards rule/fix regressions when the team extends the KB.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554480"/>
            <a:ext cx="512064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554480"/>
            <a:ext cx="5120640" cy="640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17830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B1B33"/>
                </a:solidFill>
                <a:latin typeface="Calibri"/>
              </a:rPr>
              <a:t>Extend without a rewrite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331720"/>
            <a:ext cx="45720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• Add a rule → $script:RootCauseRules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• Add a remote fix → $script:FixSolutions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• Add a runbook topic → $script:RunbookTopics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• Re-run -SelfTest after every edit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0F172A"/>
                </a:solidFill>
                <a:latin typeface="Calibri"/>
              </a:rPr>
              <a:t>• Pure PowerShell — no build pipeline required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B33"/>
              </a:gs>
              <a:gs pos="100000">
                <a:srgbClr val="082A52"/>
              </a:gs>
            </a:gsLst>
            <a:lin scaled="0" ang="189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4389120"/>
            <a:ext cx="3474720" cy="3474720"/>
          </a:xfrm>
          <a:prstGeom prst="ellipse">
            <a:avLst/>
          </a:prstGeom>
          <a:solidFill>
            <a:srgbClr val="0E3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914400" y="-914400"/>
            <a:ext cx="2926080" cy="2926080"/>
          </a:xfrm>
          <a:prstGeom prst="ellipse">
            <a:avLst/>
          </a:prstGeom>
          <a:solidFill>
            <a:srgbClr val="0A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Put the Dashboard on the ops desk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08960"/>
            <a:ext cx="23774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7472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→  Pilot on one admin laptop with live API (or cache + import)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→  Schedule a daily HTML pack for the shift lead / CAB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→  Wire ticket webhook to your ITSM if available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→  Extend 2–3 environment-specific root-cause rules</a:t>
            </a:r>
          </a:p>
          <a:p>
            <a:pPr algn="l">
              <a:spcAft>
                <a:spcPts val="1000"/>
              </a:spcAft>
            </a:pPr>
            <a:r>
              <a:rPr sz="1600" b="0" i="0">
                <a:solidFill>
                  <a:srgbClr val="E8EEF6"/>
                </a:solidFill>
                <a:latin typeface="Calibri"/>
              </a:rPr>
              <a:t>→  Add -SelfTest to your change checklist after edits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  <a:latin typeface="Calibri"/>
              </a:rPr>
              <a:t>BigFix Failed Device Dashboard v2.0.0  •  PowerShell + WinForms  •  Features • Benefits • Admin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72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6B6D4"/>
                </a:solidFill>
                <a:latin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